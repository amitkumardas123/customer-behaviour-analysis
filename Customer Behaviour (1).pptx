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Arial Black"/>
      <p:regular r:id="rId15"/>
    </p:embeddedFon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UJ2JMjlc8HfIDyECqHrr+rYRT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BA59D2-5989-4958-9659-508B963C02CB}">
  <a:tblStyle styleId="{83BA59D2-5989-4958-9659-508B963C02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b644ba7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1b644ba7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1b644ba7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4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3" name="Google Shape;53;p15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4" name="Google Shape;54;p15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5" name="Google Shape;55;p15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8" name="Google Shape;88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4" name="Google Shape;94;p21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9" name="Google Shape;99;p21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3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0" name="Google Shape;110;p23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1" name="Google Shape;111;p23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23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23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4" name="Google Shape;114;p2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3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2" name="Google Shape;122;p24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3" name="Google Shape;123;p24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p24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5" name="Google Shape;125;p24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6" name="Google Shape;126;p24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7" name="Google Shape;127;p24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8" name="Google Shape;128;p24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9" name="Google Shape;129;p24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0" name="Google Shape;130;p2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2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7058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4">
            <a:alphaModFix/>
          </a:blip>
          <a:srcRect b="0" l="0" r="0"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9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61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"/>
          <p:cNvSpPr txBox="1"/>
          <p:nvPr/>
        </p:nvSpPr>
        <p:spPr>
          <a:xfrm>
            <a:off x="1" y="5612860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Behaviour 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1b644ba75_1_0"/>
          <p:cNvSpPr txBox="1"/>
          <p:nvPr/>
        </p:nvSpPr>
        <p:spPr>
          <a:xfrm>
            <a:off x="133100" y="559200"/>
            <a:ext cx="12058800" cy="6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</a:rPr>
              <a:t>Business Scenario</a:t>
            </a:r>
            <a:endParaRPr b="1" sz="28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I am working as a Data Analyst for a leading retail company that sells products across multiple channels (online and offline).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Recently, the company has observed:</a:t>
            </a:r>
            <a:endParaRPr sz="17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1700">
                <a:solidFill>
                  <a:schemeClr val="lt1"/>
                </a:solidFill>
              </a:rPr>
              <a:t>Changing customer purchasing behavior</a:t>
            </a:r>
            <a:endParaRPr sz="17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1700">
                <a:solidFill>
                  <a:schemeClr val="lt1"/>
                </a:solidFill>
              </a:rPr>
              <a:t>Variation in sales across product categories</a:t>
            </a:r>
            <a:endParaRPr sz="1700">
              <a:solidFill>
                <a:schemeClr val="lt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1700">
                <a:solidFill>
                  <a:schemeClr val="lt1"/>
                </a:solidFill>
              </a:rPr>
              <a:t>Differences in performance between online and offline channels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Management wants data-driven insights to better understand customer behavior and improve business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</a:rPr>
              <a:t>Key Pain Points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Lack of clear understanding of customer preferences → Ineffective decision-making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Unclear impact of discounts and promotions → Reduced profitability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Low customer engagement and retention → Weak long-term loyalty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Inconsistent performance across channels → Missed revenue opportunities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Limited visibility into repeat purchase behavior → Poor customer lifetime value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Seasonal trends not fully utilized → Lost sales potential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Generic marketing strategies → Low conversion rates</a:t>
            </a:r>
            <a:endParaRPr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700">
                <a:solidFill>
                  <a:schemeClr val="lt1"/>
                </a:solidFill>
              </a:rPr>
              <a:t>Difficulty identifying high-value customers → Inefficient targeting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0495"/>
            <a:ext cx="12192000" cy="1215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/>
        </p:nvSpPr>
        <p:spPr>
          <a:xfrm>
            <a:off x="187257" y="306581"/>
            <a:ext cx="29255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i="0" lang="en-US" sz="28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 SUMMARY </a:t>
            </a:r>
            <a:r>
              <a:rPr b="1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</p:txBody>
      </p:sp>
      <p:graphicFrame>
        <p:nvGraphicFramePr>
          <p:cNvPr id="165" name="Google Shape;165;p2"/>
          <p:cNvGraphicFramePr/>
          <p:nvPr/>
        </p:nvGraphicFramePr>
        <p:xfrm>
          <a:off x="0" y="2373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048000"/>
                <a:gridCol w="1533725"/>
                <a:gridCol w="4562275"/>
                <a:gridCol w="304800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KPI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Value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Analysis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Insight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Total Revenue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$233K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Strong revenue generated across categories, with Clothing dominating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Revenue is concentrated in few categories → risk &amp; opportunity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Rating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3.75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Ratings are moderately high but not excellent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Customer satisfaction is decent but has room for improvement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Total Customers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3.9K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Large customer base with diverse demographics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Good scale for segmentation and targeting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One-time Customers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Very small portion of customers purchase once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Opportunity to convert remaining into repeat buyers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Order Value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$59.76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Stable spending pattern across customers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Pricing strategy is consistent but not optimized</a:t>
                      </a:r>
                      <a:endParaRPr/>
                    </a:p>
                  </a:txBody>
                  <a:tcPr marT="26550" marB="26550" marR="53100" marL="531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537" y="952282"/>
            <a:ext cx="4210638" cy="2296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7851" y="952283"/>
            <a:ext cx="3905795" cy="2296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8323" y="952282"/>
            <a:ext cx="3334247" cy="111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18322" y="2100660"/>
            <a:ext cx="3334248" cy="114837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119164" y="484662"/>
            <a:ext cx="43166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📦 </a:t>
            </a:r>
            <a:r>
              <a:rPr b="1" i="0" lang="en-US" sz="18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&amp; CATEGORY INSIGHTS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</p:txBody>
      </p:sp>
      <p:graphicFrame>
        <p:nvGraphicFramePr>
          <p:cNvPr id="175" name="Google Shape;175;p3"/>
          <p:cNvGraphicFramePr/>
          <p:nvPr/>
        </p:nvGraphicFramePr>
        <p:xfrm>
          <a:off x="352536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2925000"/>
                <a:gridCol w="2925000"/>
                <a:gridCol w="2925000"/>
                <a:gridCol w="2925000"/>
              </a:tblGrid>
              <a:tr h="32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KPI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Value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Analysis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Insight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Top Revenue Category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Clothing ($104K)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Dominates both revenue and orders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Core business driver → prioritize inventory &amp; marketing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Lowest Engagement Category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Outerwear (324 orders)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Lowest orders despite decent ratings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Demand issue, not quality issue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Highest Rated Products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Gloves (3.87), Sandals (3.83)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High satisfaction but not necessarily top-selling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Opportunity to promote high-rated products more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Top Purchased Products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Blouse, Pants, Jewelry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High demand items across categories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Focus on availability &amp; upselling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Low Rated Products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entury Gothic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Shirt, Jeans, Blouse (≈3.6–3.7)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Slightly lower ratings in high-volume products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entury Gothic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Quality improvement needed in core items</a:t>
                      </a:r>
                      <a:endParaRPr/>
                    </a:p>
                  </a:txBody>
                  <a:tcPr marT="33300" marB="33300" marR="66600" marL="666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"/>
          <p:cNvGraphicFramePr/>
          <p:nvPr/>
        </p:nvGraphicFramePr>
        <p:xfrm>
          <a:off x="237551" y="13207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870250"/>
                <a:gridCol w="3870250"/>
                <a:gridCol w="3870250"/>
              </a:tblGrid>
              <a:tr h="36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Recommendation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Action to Take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Rationale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Boost Outerwear Sales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Launch seasonal campaigns, bundles, and improve homepage visibility for Outerwear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Low sales despite good ratings → demand/visibility issue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Strengthen Clothing 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Maintain high inventory and run upsell/cross-sell campaigns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Clothing is the highest revenue driver → maximize ROI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Focus on Top Products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Ensure availability of Blouse, Pants, Jewelry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High demand products should never go out of stock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4"/>
          <p:cNvSpPr txBox="1"/>
          <p:nvPr/>
        </p:nvSpPr>
        <p:spPr>
          <a:xfrm>
            <a:off x="80254" y="695687"/>
            <a:ext cx="35676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📦 </a:t>
            </a: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 </a:t>
            </a:r>
            <a:r>
              <a:rPr b="1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/>
          </a:p>
        </p:txBody>
      </p:sp>
      <p:graphicFrame>
        <p:nvGraphicFramePr>
          <p:cNvPr id="182" name="Google Shape;182;p4"/>
          <p:cNvGraphicFramePr/>
          <p:nvPr/>
        </p:nvGraphicFramePr>
        <p:xfrm>
          <a:off x="237551" y="4679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870250"/>
                <a:gridCol w="3870250"/>
                <a:gridCol w="3870250"/>
              </a:tblGrid>
              <a:tr h="89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Promote High-Rated Products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Highlight Gloves, Sandals, Boots in ads and recommendations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High satisfaction → easy conversion to sales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Improve Low-Rated High-Volume Products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Fix issues in Shirt, Jeans (quality, fit, material)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Small improvements here impact large customer base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/>
        </p:nvSpPr>
        <p:spPr>
          <a:xfrm>
            <a:off x="145916" y="248214"/>
            <a:ext cx="6094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BEHAVIOR INSIGHTS :</a:t>
            </a:r>
            <a:endParaRPr/>
          </a:p>
        </p:txBody>
      </p:sp>
      <p:graphicFrame>
        <p:nvGraphicFramePr>
          <p:cNvPr id="189" name="Google Shape;189;p5"/>
          <p:cNvGraphicFramePr/>
          <p:nvPr/>
        </p:nvGraphicFramePr>
        <p:xfrm>
          <a:off x="145915" y="2644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2992950"/>
                <a:gridCol w="2992950"/>
                <a:gridCol w="2992950"/>
                <a:gridCol w="2931075"/>
              </a:tblGrid>
              <a:tr h="20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KPI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Insight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</a:tr>
              <a:tr h="56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Subscription Impact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Non-subscribers = 170K revenue vs Subscribers = 62K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Subscribers are fewer but consistent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Subscription model underutilized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</a:tr>
              <a:tr h="53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Repeat vs Subscription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Only 958 repeat buyers are subscribed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Majority of repeat buyers are NOT subscribed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Huge opportunity for subscription conversion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</a:tr>
              <a:tr h="29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Purchase Frequency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Quarterly &amp; Fortnightly dominate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Customers purchase in cycles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Opportunity for timed marketing campaigns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</a:tr>
              <a:tr h="60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Shipping Preference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Free/Standard shipping most used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Customers prefer cost-saving over speed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Pricing-sensitive audience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C3F"/>
                    </a:solidFill>
                  </a:tcPr>
                </a:tc>
              </a:tr>
            </a:tbl>
          </a:graphicData>
        </a:graphic>
      </p:graphicFrame>
      <p:pic>
        <p:nvPicPr>
          <p:cNvPr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89" y="875490"/>
            <a:ext cx="4161812" cy="167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719" y="875489"/>
            <a:ext cx="3526281" cy="167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0196" y="875489"/>
            <a:ext cx="4085615" cy="16731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5"/>
          <p:cNvGraphicFramePr/>
          <p:nvPr/>
        </p:nvGraphicFramePr>
        <p:xfrm>
          <a:off x="136189" y="5329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973200"/>
                <a:gridCol w="3973200"/>
                <a:gridCol w="3973200"/>
              </a:tblGrid>
              <a:tr h="31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Recommendation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Action to Take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Rationale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Convert Repeat Customers to Subscribers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 loyalty rewards, exclusive discounts, early access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Large repeat base not subscribed → untapped recurring revenue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Target One-Time Customers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 personalized campaigns (email/SMS offers)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entury Gothic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Increases customer lifetime value with low effort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6"/>
          <p:cNvGraphicFramePr/>
          <p:nvPr/>
        </p:nvGraphicFramePr>
        <p:xfrm>
          <a:off x="177353" y="1663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2236775"/>
                <a:gridCol w="2236775"/>
                <a:gridCol w="2236775"/>
                <a:gridCol w="2236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KPI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Insight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Top Discounted Products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Hat (50%), Sneakers (49.6%)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Heavy reliance on discounts for sales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Margin risk on popular items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Discount Dependency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Nearly 50% sales via discounts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Customers are price-driven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Need balance between discount &amp; value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9643" y="1663156"/>
            <a:ext cx="2715004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148346" y="1026427"/>
            <a:ext cx="6094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💸 DISCOUNT &amp; PRICING INSIGHTS :</a:t>
            </a:r>
            <a:endParaRPr/>
          </a:p>
        </p:txBody>
      </p:sp>
      <p:graphicFrame>
        <p:nvGraphicFramePr>
          <p:cNvPr id="201" name="Google Shape;201;p6"/>
          <p:cNvGraphicFramePr/>
          <p:nvPr/>
        </p:nvGraphicFramePr>
        <p:xfrm>
          <a:off x="177353" y="3850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945775"/>
                <a:gridCol w="3945775"/>
                <a:gridCol w="39457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Recommendation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Action to Take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Rationale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Reduce Discount Dependency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Gradually decrease discounts, test bundle pricing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High discount reliance reduces profit margins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Strategic Discount Allocation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Apply discounts on low-performing products like Outerwear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Use discounts to drive demand, not reduce margins on top products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265079" y="185519"/>
            <a:ext cx="6094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DEMOGRAPHIC</a:t>
            </a:r>
            <a:r>
              <a:rPr b="0" i="0" lang="en-US" sz="18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REVENUE</a:t>
            </a:r>
            <a:r>
              <a:rPr b="0" i="0" lang="en-US" sz="18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24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INSIGHTS :</a:t>
            </a:r>
            <a:endParaRPr/>
          </a:p>
        </p:txBody>
      </p:sp>
      <p:graphicFrame>
        <p:nvGraphicFramePr>
          <p:cNvPr id="207" name="Google Shape;207;p7"/>
          <p:cNvGraphicFramePr/>
          <p:nvPr/>
        </p:nvGraphicFramePr>
        <p:xfrm>
          <a:off x="334402" y="2514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2505650"/>
                <a:gridCol w="1857975"/>
                <a:gridCol w="4036975"/>
                <a:gridCol w="31225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Segment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Revenue 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Insight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Young (Male)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18%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Highest contributing segment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Primary target audience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Middle-aged (Male)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16.9%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Strong purchasing power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Stable revenue segment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Adult (Male)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16.4%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Consistent contribution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Broad engagement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Female Segments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~7–8% each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Lower contribution vs male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Untapped growth opportunity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406" y="647184"/>
            <a:ext cx="5761594" cy="1731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068" y="647184"/>
            <a:ext cx="5573526" cy="17319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7"/>
          <p:cNvGraphicFramePr/>
          <p:nvPr/>
        </p:nvGraphicFramePr>
        <p:xfrm>
          <a:off x="334404" y="4850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841050"/>
                <a:gridCol w="3841050"/>
                <a:gridCol w="3841050"/>
              </a:tblGrid>
              <a:tr h="2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Recommendation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Action to Take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Rationale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Target Female Customers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Launch gender-specific campaigns and offers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Female segment underperforming → growth opportunity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Scale High-Performing Male Segments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Increase marketing for Young &amp; Middle-aged males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These segments generate highest revenue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8"/>
          <p:cNvGraphicFramePr/>
          <p:nvPr/>
        </p:nvGraphicFramePr>
        <p:xfrm>
          <a:off x="218872" y="2120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{83BA59D2-5989-4958-9659-508B963C02CB}</a:tableStyleId>
              </a:tblPr>
              <a:tblGrid>
                <a:gridCol w="3865125"/>
                <a:gridCol w="3865125"/>
                <a:gridCol w="4024000"/>
              </a:tblGrid>
              <a:tr h="2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Recommendation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Action to Take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 Black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Rationale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Leverage Purchase Frequency Cycles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 time-based campaigns (e.g., 15-day / 90-day reminders and offers)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Customers follow predictable purchase cycles, enabling higher conversion with timely engagement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Optimize Shipping Strategy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Introduce free shipping thresholds and bundle shipping benefits with purchases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Customers are price-sensitive and prefer free shipping, which can increase order value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Enhance Subscription Benefits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 free/discounted shipping and exclusive perks for subscribers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Improves subscription adoption and strengthens customer retention</a:t>
                      </a:r>
                      <a:endParaRPr/>
                    </a:p>
                  </a:txBody>
                  <a:tcPr marT="10650" marB="10650" marR="21300" marL="213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8"/>
          <p:cNvSpPr txBox="1"/>
          <p:nvPr/>
        </p:nvSpPr>
        <p:spPr>
          <a:xfrm>
            <a:off x="128891" y="1483628"/>
            <a:ext cx="6094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 MORE RECOMMENDATIONS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2026-03-22T06:13:11Z</dcterms:created>
  <dc:creator>Amit Das</dc:creator>
</cp:coreProperties>
</file>